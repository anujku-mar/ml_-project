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1260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5528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63308"/>
            <a:ext cx="10566400" cy="502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F6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971015"/>
            <a:ext cx="10566400" cy="4074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6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63308"/>
            <a:ext cx="10566400" cy="502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F6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971015"/>
            <a:ext cx="10566400" cy="4074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6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kern="0" spc="100" dirty="0">
                <a:solidFill>
                  <a:srgbClr val="5EEAD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1 · INTRODUCTION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198489"/>
            <a:ext cx="10883392" cy="64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40"/>
              </a:lnSpc>
              <a:buNone/>
            </a:pPr>
            <a:r>
              <a:rPr lang="en-US" sz="4400" b="0" i="0" dirty="0">
                <a:solidFill>
                  <a:srgbClr val="F6F4E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EEG-Based Emotion Recognition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12800" y="2990916"/>
            <a:ext cx="10883392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800" dirty="0">
                <a:solidFill>
                  <a:srgbClr val="CFD6DC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A re-implementation of Subasi &amp; Qaisar (2024): MSPCA denoising, Modified Covariance features, ensemble classifiers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12800" y="4744773"/>
            <a:ext cx="3386667" cy="1097227"/>
          </a:xfrm>
          <a:prstGeom prst="roundRect">
            <a:avLst>
              <a:gd name="adj" fmla="val 9260"/>
            </a:avLst>
          </a:prstGeom>
          <a:solidFill>
            <a:srgbClr val="2230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16000" y="4947973"/>
            <a:ext cx="30696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5EEAD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Why it matters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16000" y="5176573"/>
            <a:ext cx="3069675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FD6DC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Human-computer interaction, healthcare, neuromarketing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02667" y="4744773"/>
            <a:ext cx="3386667" cy="1097227"/>
          </a:xfrm>
          <a:prstGeom prst="roundRect">
            <a:avLst>
              <a:gd name="adj" fmla="val 9260"/>
            </a:avLst>
          </a:prstGeom>
          <a:solidFill>
            <a:srgbClr val="2230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605867" y="4947973"/>
            <a:ext cx="30696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5EEAD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The challenge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05867" y="5176573"/>
            <a:ext cx="3069675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FD6DC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EEG is noisy and differs strongly between people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92534" y="4744773"/>
            <a:ext cx="3386667" cy="1097227"/>
          </a:xfrm>
          <a:prstGeom prst="roundRect">
            <a:avLst>
              <a:gd name="adj" fmla="val 9260"/>
            </a:avLst>
          </a:prstGeom>
          <a:solidFill>
            <a:srgbClr val="2230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195734" y="4947973"/>
            <a:ext cx="30696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5EEAD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The paper's claim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95734" y="5176573"/>
            <a:ext cx="3069675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FD6DC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99.6% accuracy with Bagging + Random Forest on SEED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80"/>
            <a:ext cx="25466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6B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Presented by Anuj Kumar Sarki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kern="0" spc="100" dirty="0">
                <a:solidFill>
                  <a:srgbClr val="0E7C7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2 · PROPOSED IDEA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63307"/>
            <a:ext cx="10883392" cy="1031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721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Clean the signal, describe it as a spectrum, let ensembles vote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3906309"/>
            <a:ext cx="3380317" cy="1932517"/>
          </a:xfrm>
          <a:prstGeom prst="roundRect">
            <a:avLst>
              <a:gd name="adj" fmla="val 5093"/>
            </a:avLst>
          </a:prstGeom>
          <a:solidFill>
            <a:srgbClr val="FFFFFF"/>
          </a:solidFill>
          <a:ln w="6350">
            <a:solidFill>
              <a:srgbClr val="DDD9C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71033" y="4161367"/>
            <a:ext cx="295630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E7C7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1 · Denoise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71033" y="4555067"/>
            <a:ext cx="2956306" cy="1054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721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Multi-scale PCA on a 5-level Symlets-4 wavelet decomposition removes noise across channels and scales.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05842" y="3906309"/>
            <a:ext cx="3380317" cy="1932517"/>
          </a:xfrm>
          <a:prstGeom prst="roundRect">
            <a:avLst>
              <a:gd name="adj" fmla="val 5093"/>
            </a:avLst>
          </a:prstGeom>
          <a:solidFill>
            <a:srgbClr val="FFFFFF"/>
          </a:solidFill>
          <a:ln w="6350">
            <a:solidFill>
              <a:srgbClr val="DDD9C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660900" y="4161367"/>
            <a:ext cx="295630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E7C7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2 · Describe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60900" y="4555067"/>
            <a:ext cx="2956306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721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Modified Covariance fits an AR model (order 15) per channel and turns it into a power spectrum.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995709" y="3906309"/>
            <a:ext cx="3380317" cy="1932517"/>
          </a:xfrm>
          <a:prstGeom prst="roundRect">
            <a:avLst>
              <a:gd name="adj" fmla="val 5093"/>
            </a:avLst>
          </a:prstGeom>
          <a:solidFill>
            <a:srgbClr val="FFFFFF"/>
          </a:solidFill>
          <a:ln w="6350">
            <a:solidFill>
              <a:srgbClr val="DDD9C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250767" y="4161367"/>
            <a:ext cx="295630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E7C7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3 · Classify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50767" y="4555067"/>
            <a:ext cx="2956306" cy="1054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721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Bagging with Random Forest combines many trees to cut variance on noisy, variable EEG features.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643167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Paper: Journal of Ambient Intelligence and Humanized Computing, 15:575–591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kern="0" spc="100" dirty="0">
                <a:solidFill>
                  <a:srgbClr val="5EEAD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3 · PROPOSED ARCHITECTURE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63307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F6F4E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Five-stage pipeline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857236"/>
            <a:ext cx="1727200" cy="1536568"/>
          </a:xfrm>
          <a:prstGeom prst="roundRect">
            <a:avLst>
              <a:gd name="adj" fmla="val 6612"/>
            </a:avLst>
          </a:prstGeom>
          <a:solidFill>
            <a:srgbClr val="2230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90600" y="3035036"/>
            <a:ext cx="1422400" cy="51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5EEAD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EEG segment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90600" y="3522663"/>
            <a:ext cx="1422400" cy="718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FD6DC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62 channels, 1,024 samples (5.12 s), 75 Hz low-pass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641600" y="3429927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5EEAD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022600" y="2857236"/>
            <a:ext cx="1727200" cy="1536568"/>
          </a:xfrm>
          <a:prstGeom prst="roundRect">
            <a:avLst>
              <a:gd name="adj" fmla="val 6612"/>
            </a:avLst>
          </a:prstGeom>
          <a:solidFill>
            <a:srgbClr val="2230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200400" y="3035036"/>
            <a:ext cx="1422400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5EEAD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MSPCA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00400" y="3278849"/>
            <a:ext cx="1422400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FD6DC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Sym4, 5 levels, PCA per scale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51400" y="3429927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5EEAD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232400" y="2857236"/>
            <a:ext cx="1727200" cy="1536568"/>
          </a:xfrm>
          <a:prstGeom prst="roundRect">
            <a:avLst>
              <a:gd name="adj" fmla="val 6612"/>
            </a:avLst>
          </a:prstGeom>
          <a:solidFill>
            <a:srgbClr val="2230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410200" y="3035036"/>
            <a:ext cx="1422400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5EEAD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MCOV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10200" y="3278849"/>
            <a:ext cx="1422400" cy="718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FD6DC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AR order 15, PSD at 40 points per channel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061200" y="3429927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5EEAD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442200" y="2857236"/>
            <a:ext cx="1727200" cy="1536568"/>
          </a:xfrm>
          <a:prstGeom prst="roundRect">
            <a:avLst>
              <a:gd name="adj" fmla="val 6612"/>
            </a:avLst>
          </a:prstGeom>
          <a:solidFill>
            <a:srgbClr val="2230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620000" y="3035036"/>
            <a:ext cx="1422400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5EEAD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Features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20000" y="3278849"/>
            <a:ext cx="1422400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FD6DC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log PSD, 62 × 40 = 2,480 values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271000" y="3429927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5EEAD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9652000" y="2857236"/>
            <a:ext cx="1727200" cy="1536568"/>
          </a:xfrm>
          <a:prstGeom prst="roundRect">
            <a:avLst>
              <a:gd name="adj" fmla="val 6612"/>
            </a:avLst>
          </a:prstGeom>
          <a:solidFill>
            <a:srgbClr val="2230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9829800" y="3035036"/>
            <a:ext cx="1422400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5EEAD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Classifier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829800" y="3278849"/>
            <a:ext cx="1422400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FD6DC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Tree, RF, SVM, Bagging + RF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12800" y="5584825"/>
            <a:ext cx="10883392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CFD6DC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Evaluated three ways: random 10-fold (the paper's protocol), trial-grouped 5-fold, and leave-one-subject-out.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12800" y="6238280"/>
            <a:ext cx="587565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6B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Data: SEED-IV subset (5 subjects, session 1, 1,410 segments, 4 emotions)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kern="0" spc="100" dirty="0">
                <a:solidFill>
                  <a:srgbClr val="0E7C7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4 · RESULTS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63307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721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Accuracy drops sharply under stricter testing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063948"/>
          <a:ext cx="10553700" cy="2913062"/>
        </p:xfrm>
        <a:graphic>
          <a:graphicData uri="http://schemas.openxmlformats.org/drawingml/2006/table">
            <a:tbl>
              <a:tblPr/>
              <a:tblGrid>
                <a:gridCol w="263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8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38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38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10154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721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Model</a:t>
                      </a:r>
                      <a:endParaRPr lang="en-US" sz="16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721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Paper (SEED, 3 classes)</a:t>
                      </a:r>
                      <a:endParaRPr lang="en-US" sz="16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721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Ours, random 10-fold</a:t>
                      </a:r>
                      <a:endParaRPr lang="en-US" sz="16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721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Ours, LOSO</a:t>
                      </a:r>
                      <a:endParaRPr lang="en-US" sz="16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27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Decision Tree</a:t>
                      </a:r>
                      <a:endParaRPr lang="en-US" sz="16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80.9%</a:t>
                      </a:r>
                      <a:endParaRPr lang="en-US" sz="16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46.0%</a:t>
                      </a:r>
                      <a:endParaRPr lang="en-US" sz="16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27.0%</a:t>
                      </a:r>
                      <a:endParaRPr lang="en-US" sz="16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27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Random Forest</a:t>
                      </a:r>
                      <a:endParaRPr lang="en-US" sz="16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87.8%</a:t>
                      </a:r>
                      <a:endParaRPr lang="en-US" sz="16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66.7%</a:t>
                      </a:r>
                      <a:endParaRPr lang="en-US" sz="16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30.9%</a:t>
                      </a:r>
                      <a:endParaRPr lang="en-US" sz="16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727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SVM</a:t>
                      </a:r>
                      <a:endParaRPr lang="en-US" sz="16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88.9%</a:t>
                      </a:r>
                      <a:endParaRPr lang="en-US" sz="16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72.8%</a:t>
                      </a:r>
                      <a:endParaRPr lang="en-US" sz="16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34.3%</a:t>
                      </a:r>
                      <a:endParaRPr lang="en-US" sz="16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5727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Bagging + RF</a:t>
                      </a:r>
                      <a:endParaRPr lang="en-US" sz="16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99.6%</a:t>
                      </a:r>
                      <a:endParaRPr lang="en-US" sz="16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64.1%</a:t>
                      </a:r>
                      <a:endParaRPr lang="en-US" sz="16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32.3%</a:t>
                      </a:r>
                      <a:endParaRPr lang="en-US" sz="16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5362046"/>
            <a:ext cx="10883392" cy="5053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C2410C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The paper's 99.6% was not reproduced. Our datasets differ (4 classes, 5 subjects), so the numbers are not directly comparable. Chance is 25%.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582445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LOSO = leave-one-subject-out. Paper figures are from its Tables 1 and 2.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kern="0" spc="100" dirty="0">
                <a:solidFill>
                  <a:srgbClr val="5EEAD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5 · CONCLUSION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63309"/>
            <a:ext cx="11379200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F6F4E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The pipeline works, the headline number needs care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4099787"/>
            <a:ext cx="3386667" cy="1742215"/>
          </a:xfrm>
          <a:prstGeom prst="roundRect">
            <a:avLst>
              <a:gd name="adj" fmla="val 5832"/>
            </a:avLst>
          </a:prstGeom>
          <a:solidFill>
            <a:srgbClr val="2230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66800" y="4353787"/>
            <a:ext cx="2965027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5EEAD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What we built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6800" y="4628093"/>
            <a:ext cx="2965027" cy="985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CFD6DC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MSPCA and MCOV coded from the paper's equations and checked against known signals and an independent solver.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02667" y="4099787"/>
            <a:ext cx="3386667" cy="1742215"/>
          </a:xfrm>
          <a:prstGeom prst="roundRect">
            <a:avLst>
              <a:gd name="adj" fmla="val 5832"/>
            </a:avLst>
          </a:prstGeom>
          <a:solidFill>
            <a:srgbClr val="2230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656667" y="4353787"/>
            <a:ext cx="2965027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5EEAD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What we found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56667" y="4628093"/>
            <a:ext cx="2965027" cy="985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CFD6DC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Random splits look good (SVM 72.8%) but unseen subjects reach only 32–34%. Features carry a strong subject signature.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92534" y="4099787"/>
            <a:ext cx="3386667" cy="1742215"/>
          </a:xfrm>
          <a:prstGeom prst="roundRect">
            <a:avLst>
              <a:gd name="adj" fmla="val 5832"/>
            </a:avLst>
          </a:prstGeom>
          <a:solidFill>
            <a:srgbClr val="2230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246534" y="4353787"/>
            <a:ext cx="2965027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5EEAD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Next steps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46534" y="4628093"/>
            <a:ext cx="2965027" cy="745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CFD6DC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Use all 15 subjects and 3 sessions, add artifact rejection, and try subject-adaptation methods.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24541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6B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Thank you · Anuj Kumar Sarki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EG Emotion Recognition: MSPCA + MCOV + Ensembles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Arial-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436</Words>
  <Application>Microsoft Office PowerPoint</Application>
  <PresentationFormat>Widescreen</PresentationFormat>
  <Paragraphs>75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Georgia</vt:lpstr>
      <vt:lpstr>EEG Emotion Recognition: MSPCA + MCOV + Ensembles</vt:lpstr>
      <vt:lpstr>EEG-Based Emotion Recognition</vt:lpstr>
      <vt:lpstr>Clean the signal, describe it as a spectrum, let ensembles vote</vt:lpstr>
      <vt:lpstr>Five-stage pipeline</vt:lpstr>
      <vt:lpstr>Accuracy drops sharply under stricter testing</vt:lpstr>
      <vt:lpstr>The pipeline works, the headline number needs care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EEG Emotion Recognition: MSPCA + MCOV + Ensembles</dc:title>
  <dc:subject/>
  <dc:creator/>
  <cp:lastModifiedBy>ANUJ KUMAR</cp:lastModifiedBy>
  <cp:revision>2</cp:revision>
  <dcterms:created xsi:type="dcterms:W3CDTF">2026-10-28T18:08:20Z</dcterms:created>
  <dcterms:modified xsi:type="dcterms:W3CDTF">2026-10-28T18:11:43Z</dcterms:modified>
</cp:coreProperties>
</file>